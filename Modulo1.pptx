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73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57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D93CE-119D-41B7-BAFA-59763CCB4FE8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B3E71-BFC3-4956-AC48-688A52B5202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83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321227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743269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165310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587351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eaLnBrk="1">
              <a:buFont typeface="Times New Roman" pitchFamily="18" charset="0"/>
              <a:buNone/>
            </a:pPr>
            <a:fld id="{A63B98CE-B742-4D08-9667-4A96826D8D12}" type="slidenum">
              <a:rPr lang="en-GB" altLang="it-IT" smtClean="0">
                <a:solidFill>
                  <a:srgbClr val="000000"/>
                </a:solidFill>
                <a:latin typeface="Times New Roman" pitchFamily="18" charset="0"/>
              </a:rPr>
              <a:pPr eaLnBrk="1">
                <a:buFont typeface="Times New Roman" pitchFamily="18" charset="0"/>
                <a:buNone/>
              </a:pPr>
              <a:t>1</a:t>
            </a:fld>
            <a:endParaRPr lang="en-GB" altLang="it-IT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95325"/>
            <a:ext cx="4568825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94" y="4342939"/>
            <a:ext cx="5487013" cy="411600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1pPr>
            <a:lvl2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2pPr>
            <a:lvl3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3pPr>
            <a:lvl4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4pPr>
            <a:lvl5pPr eaLnBrk="0"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5pPr>
            <a:lvl6pPr marL="2321227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6pPr>
            <a:lvl7pPr marL="2743269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7pPr>
            <a:lvl8pPr marL="3165310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8pPr>
            <a:lvl9pPr marL="3587351" indent="-211021" defTabSz="41471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4528" algn="l"/>
                <a:tab pos="1269055" algn="l"/>
                <a:tab pos="1903583" algn="l"/>
                <a:tab pos="2538110" algn="l"/>
              </a:tabLst>
              <a:defRPr>
                <a:solidFill>
                  <a:schemeClr val="tx1"/>
                </a:solidFill>
                <a:latin typeface="Arial" charset="0"/>
                <a:ea typeface="Microsoft YaHei" pitchFamily="34" charset="-122"/>
              </a:defRPr>
            </a:lvl9pPr>
          </a:lstStyle>
          <a:p>
            <a:pPr eaLnBrk="1">
              <a:buFont typeface="Times New Roman" pitchFamily="18" charset="0"/>
              <a:buNone/>
            </a:pPr>
            <a:fld id="{A63B98CE-B742-4D08-9667-4A96826D8D12}" type="slidenum">
              <a:rPr lang="en-GB" altLang="it-IT" smtClean="0">
                <a:solidFill>
                  <a:srgbClr val="000000"/>
                </a:solidFill>
                <a:latin typeface="Times New Roman" pitchFamily="18" charset="0"/>
              </a:rPr>
              <a:pPr eaLnBrk="1">
                <a:buFont typeface="Times New Roman" pitchFamily="18" charset="0"/>
                <a:buNone/>
              </a:pPr>
              <a:t>2</a:t>
            </a:fld>
            <a:endParaRPr lang="en-GB" altLang="it-IT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95325"/>
            <a:ext cx="4568825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94" y="4342939"/>
            <a:ext cx="5487013" cy="411600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9B3E71-BFC3-4956-AC48-688A52B5202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246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65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131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795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428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013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58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478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909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0589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6481" y="273629"/>
            <a:ext cx="8226720" cy="114348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695FE-13EF-44F1-A030-1064345F9802}" type="slidenum">
              <a:rPr lang="en-GB" altLang="it-IT"/>
              <a:pPr>
                <a:defRPr/>
              </a:pPr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12115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AED3E-CB5E-4AE0-AA8A-434375DB16BF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144DA-73B4-4EFD-98CD-C3DCEDA366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252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hyperlink" Target="http://www.---------.com/" TargetMode="Externa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Titolo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1000"/>
              </a:lnSpc>
            </a:pPr>
            <a:r>
              <a:rPr lang="en-GB" altLang="it-IT" b="1" i="1" dirty="0">
                <a:solidFill>
                  <a:srgbClr val="006699"/>
                </a:solidFill>
                <a:latin typeface="Ebrima" pitchFamily="2" charset="0"/>
              </a:rPr>
              <a:t>Corso HTML Base</a:t>
            </a:r>
          </a:p>
        </p:txBody>
      </p:sp>
      <p:sp>
        <p:nvSpPr>
          <p:cNvPr id="5" name="Sottotitolo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Modulo 1	</a:t>
            </a:r>
          </a:p>
          <a:p>
            <a:pPr marL="0" indent="0">
              <a:buNone/>
            </a:pP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   Architettura WEB</a:t>
            </a:r>
          </a:p>
        </p:txBody>
      </p:sp>
    </p:spTree>
    <p:extLst>
      <p:ext uri="{BB962C8B-B14F-4D97-AF65-F5344CB8AC3E}">
        <p14:creationId xmlns:p14="http://schemas.microsoft.com/office/powerpoint/2010/main" val="387021251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91027"/>
            <a:ext cx="3240360" cy="3404602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4067944" y="3167390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76672"/>
            <a:ext cx="2520280" cy="253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4689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28" y="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Comunicazione web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5" y="3271777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6233597">
            <a:off x="2630392" y="4267709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7401542">
            <a:off x="3085249" y="1583173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4780448" y="2201767"/>
            <a:ext cx="20890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PROVIDER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36941" y="4914039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pic>
        <p:nvPicPr>
          <p:cNvPr id="14" name="Immagin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0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Comunicazione web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5" y="3271777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6233597">
            <a:off x="2630392" y="4267709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7401542">
            <a:off x="3085249" y="1583173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4780448" y="2201767"/>
            <a:ext cx="20890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PROVIDER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36941" y="4914039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pic>
        <p:nvPicPr>
          <p:cNvPr id="14" name="Immagin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  <p:sp>
        <p:nvSpPr>
          <p:cNvPr id="11" name="CasellaDiTesto 10"/>
          <p:cNvSpPr txBox="1"/>
          <p:nvPr/>
        </p:nvSpPr>
        <p:spPr>
          <a:xfrm>
            <a:off x="5846268" y="3483738"/>
            <a:ext cx="2686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Servizi: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Email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Domini (siti)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Posta Elettronica Certificata (PEC)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Cloud</a:t>
            </a:r>
            <a:endParaRPr lang="it-IT" sz="1600" b="1" i="1" dirty="0">
              <a:solidFill>
                <a:srgbClr val="333366"/>
              </a:solidFill>
              <a:latin typeface="Ebrima" pitchFamily="2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695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040" y="-2892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Comunicazione web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5" y="3271777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6233597">
            <a:off x="2630392" y="4267709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6405953">
            <a:off x="5998725" y="4394422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10" name="Immagin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4062493"/>
            <a:ext cx="1261762" cy="1104042"/>
          </a:xfrm>
          <a:prstGeom prst="rect">
            <a:avLst/>
          </a:prstGeom>
        </p:spPr>
      </p:pic>
      <p:sp>
        <p:nvSpPr>
          <p:cNvPr id="11" name="Freccia circolare a sinistra 10"/>
          <p:cNvSpPr/>
          <p:nvPr/>
        </p:nvSpPr>
        <p:spPr>
          <a:xfrm rot="15613064">
            <a:off x="5871535" y="1583173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2" name="Freccia circolare a sinistra 11"/>
          <p:cNvSpPr/>
          <p:nvPr/>
        </p:nvSpPr>
        <p:spPr>
          <a:xfrm rot="17401542">
            <a:off x="3085250" y="1583173"/>
            <a:ext cx="576064" cy="193987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436941" y="4914039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3635895" y="1444401"/>
            <a:ext cx="20890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PROVIDER</a:t>
            </a: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7153962" y="1998828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2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040" y="-2892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126352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5618957">
            <a:off x="3903397" y="36464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6508906">
            <a:off x="3907186" y="4065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436941" y="4914039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6444205" y="1950344"/>
            <a:ext cx="2089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36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8" y="-2892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126352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5618957">
            <a:off x="3903397" y="36464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6508906">
            <a:off x="3907186" y="4065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2843808" y="2203022"/>
            <a:ext cx="233745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Browser:</a:t>
            </a:r>
          </a:p>
          <a:p>
            <a:r>
              <a:rPr lang="it-IT" sz="1600" b="1" i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Edge</a:t>
            </a:r>
            <a:endParaRPr lang="it-IT" sz="1600" b="1" i="1" dirty="0">
              <a:solidFill>
                <a:srgbClr val="333366"/>
              </a:solidFill>
              <a:latin typeface="Ebrima" pitchFamily="2" charset="0"/>
              <a:ea typeface="Microsoft YaHei" pitchFamily="34" charset="-122"/>
            </a:endParaRPr>
          </a:p>
          <a:p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Chrome</a:t>
            </a:r>
            <a:endParaRPr lang="it-IT" sz="1600" b="1" i="1" dirty="0">
              <a:solidFill>
                <a:srgbClr val="333366"/>
              </a:solidFill>
              <a:latin typeface="Ebrima" pitchFamily="2" charset="0"/>
              <a:ea typeface="Microsoft YaHei" pitchFamily="34" charset="-122"/>
            </a:endParaRPr>
          </a:p>
          <a:p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Firefox</a:t>
            </a:r>
            <a:endParaRPr lang="it-IT" sz="1600" b="1" i="1" dirty="0">
              <a:solidFill>
                <a:srgbClr val="333366"/>
              </a:solidFill>
              <a:latin typeface="Ebrima" pitchFamily="2" charset="0"/>
              <a:ea typeface="Microsoft YaHei" pitchFamily="34" charset="-122"/>
            </a:endParaRP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Opera,</a:t>
            </a:r>
          </a:p>
          <a:p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Ecc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…</a:t>
            </a:r>
          </a:p>
          <a:p>
            <a:endParaRPr lang="it-IT" dirty="0"/>
          </a:p>
        </p:txBody>
      </p:sp>
      <p:sp>
        <p:nvSpPr>
          <p:cNvPr id="10" name="CasellaDiTesto 9"/>
          <p:cNvSpPr txBox="1"/>
          <p:nvPr/>
        </p:nvSpPr>
        <p:spPr>
          <a:xfrm>
            <a:off x="436941" y="4914039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444205" y="1950344"/>
            <a:ext cx="2089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8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040" y="-2892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331" y="3126352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5618957">
            <a:off x="3896979" y="3746165"/>
            <a:ext cx="827016" cy="39347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6508906">
            <a:off x="3907186" y="4065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2884303" y="2204864"/>
            <a:ext cx="328006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Browser:</a:t>
            </a: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Barra degli indirizzi</a:t>
            </a:r>
          </a:p>
          <a:p>
            <a:r>
              <a:rPr lang="it-IT" sz="1600" b="1" i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URL 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(</a:t>
            </a:r>
            <a:r>
              <a:rPr lang="it-IT" sz="1600" b="1" i="1" dirty="0" err="1">
                <a:solidFill>
                  <a:srgbClr val="FF0000"/>
                </a:solidFill>
                <a:latin typeface="Ebrima" pitchFamily="2" charset="0"/>
                <a:ea typeface="Microsoft YaHei" pitchFamily="34" charset="-122"/>
              </a:rPr>
              <a:t>U</a:t>
            </a:r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niform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 </a:t>
            </a:r>
            <a:r>
              <a:rPr lang="it-IT" sz="1600" b="1" i="1" dirty="0">
                <a:solidFill>
                  <a:srgbClr val="FF0000"/>
                </a:solidFill>
                <a:latin typeface="Ebrima" pitchFamily="2" charset="0"/>
                <a:ea typeface="Microsoft YaHei" pitchFamily="34" charset="-122"/>
              </a:rPr>
              <a:t>R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esource </a:t>
            </a:r>
            <a:r>
              <a:rPr lang="it-IT" sz="1600" b="1" i="1" dirty="0">
                <a:solidFill>
                  <a:srgbClr val="FF0000"/>
                </a:solidFill>
                <a:latin typeface="Ebrima" pitchFamily="2" charset="0"/>
                <a:ea typeface="Microsoft YaHei" pitchFamily="34" charset="-122"/>
              </a:rPr>
              <a:t>L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ocator</a:t>
            </a:r>
            <a:r>
              <a:rPr lang="it-IT" sz="1600" dirty="0"/>
              <a:t>)</a:t>
            </a:r>
            <a:endParaRPr lang="it-IT" sz="1600" b="1" i="1" dirty="0">
              <a:solidFill>
                <a:srgbClr val="333366"/>
              </a:solidFill>
              <a:latin typeface="Ebrima" pitchFamily="2" charset="0"/>
              <a:ea typeface="Microsoft YaHei" pitchFamily="34" charset="-122"/>
            </a:endParaRP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  <a:hlinkClick r:id="rId5"/>
              </a:rPr>
              <a:t>http://www.-----.com</a:t>
            </a:r>
            <a:endParaRPr lang="it-IT" sz="1600" b="1" i="1" dirty="0">
              <a:solidFill>
                <a:srgbClr val="333366"/>
              </a:solidFill>
              <a:latin typeface="Ebrima" pitchFamily="2" charset="0"/>
              <a:ea typeface="Microsoft YaHei" pitchFamily="34" charset="-122"/>
            </a:endParaRP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.</a:t>
            </a:r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it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 </a:t>
            </a: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.UK</a:t>
            </a: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.</a:t>
            </a:r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ecc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…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436941" y="4914039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444205" y="1950344"/>
            <a:ext cx="2089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66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040" y="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126352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16508906">
            <a:off x="3907186" y="4065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2843808" y="2245323"/>
            <a:ext cx="2180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Indirizzo web:</a:t>
            </a: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http://www.----.com</a:t>
            </a:r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830098"/>
            <a:ext cx="892490" cy="535494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436941" y="4914039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444205" y="1950344"/>
            <a:ext cx="2089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5377473" y="3365592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Sito</a:t>
            </a:r>
          </a:p>
        </p:txBody>
      </p:sp>
      <p:pic>
        <p:nvPicPr>
          <p:cNvPr id="14" name="Immagin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81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040" y="-28920"/>
            <a:ext cx="920304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</a:t>
            </a: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1" y="3539290"/>
            <a:ext cx="1261762" cy="1104042"/>
          </a:xfrm>
          <a:prstGeom prst="rect">
            <a:avLst/>
          </a:prstGeom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126352"/>
            <a:ext cx="1639069" cy="1639069"/>
          </a:xfrm>
          <a:prstGeom prst="rect">
            <a:avLst/>
          </a:prstGeom>
        </p:spPr>
      </p:pic>
      <p:sp>
        <p:nvSpPr>
          <p:cNvPr id="10" name="Freccia circolare a sinistra 9"/>
          <p:cNvSpPr/>
          <p:nvPr/>
        </p:nvSpPr>
        <p:spPr>
          <a:xfrm rot="5618957">
            <a:off x="3903397" y="36464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2" name="Freccia circolare a sinistra 11"/>
          <p:cNvSpPr/>
          <p:nvPr/>
        </p:nvSpPr>
        <p:spPr>
          <a:xfrm rot="16508906">
            <a:off x="3907186" y="406577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3934010" y="4545384"/>
            <a:ext cx="1401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Index.html</a:t>
            </a: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Home.html</a:t>
            </a: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Default.html</a:t>
            </a:r>
          </a:p>
          <a:p>
            <a:r>
              <a:rPr lang="it-IT" sz="1600" b="1" i="1" dirty="0" err="1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Ecc</a:t>
            </a: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…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814008" y="4725144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2843808" y="2245323"/>
            <a:ext cx="2180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Indirizzo web:</a:t>
            </a:r>
          </a:p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http://www.----.com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5377473" y="3365592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Sito</a:t>
            </a:r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830098"/>
            <a:ext cx="892490" cy="535494"/>
          </a:xfrm>
          <a:prstGeom prst="rect">
            <a:avLst/>
          </a:prstGeom>
        </p:spPr>
      </p:pic>
      <p:sp>
        <p:nvSpPr>
          <p:cNvPr id="22" name="CasellaDiTesto 21"/>
          <p:cNvSpPr txBox="1"/>
          <p:nvPr/>
        </p:nvSpPr>
        <p:spPr>
          <a:xfrm>
            <a:off x="6444205" y="1950344"/>
            <a:ext cx="2089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</a:t>
            </a:r>
            <a:r>
              <a:rPr lang="it-IT" dirty="0"/>
              <a:t> </a:t>
            </a:r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WEB</a:t>
            </a:r>
          </a:p>
        </p:txBody>
      </p:sp>
      <p:pic>
        <p:nvPicPr>
          <p:cNvPr id="16" name="Immagin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09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536" y="-27384"/>
            <a:ext cx="9203040" cy="693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CasellaDiTesto 8"/>
          <p:cNvSpPr txBox="1"/>
          <p:nvPr/>
        </p:nvSpPr>
        <p:spPr>
          <a:xfrm>
            <a:off x="2339378" y="1378606"/>
            <a:ext cx="15712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Siti</a:t>
            </a:r>
            <a:r>
              <a:rPr lang="it-IT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STATICI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HTML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CSS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33307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395" y="2924944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5618957">
            <a:off x="3904413" y="3748923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6508906">
            <a:off x="3752093" y="-768988"/>
            <a:ext cx="677887" cy="404543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814008" y="4725144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446131" y="2009499"/>
            <a:ext cx="2135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 WEB</a:t>
            </a: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45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-27384"/>
            <a:ext cx="9203040" cy="693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CasellaDiTesto 8"/>
          <p:cNvSpPr txBox="1"/>
          <p:nvPr/>
        </p:nvSpPr>
        <p:spPr>
          <a:xfrm>
            <a:off x="2339378" y="1378606"/>
            <a:ext cx="395492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Siti</a:t>
            </a:r>
            <a:r>
              <a:rPr lang="it-IT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STATICI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HTML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CSS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DINAMICI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HTML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CSS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Linguaggi di programmazione: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33307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395" y="2924944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5618957">
            <a:off x="3904413" y="3748923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6508906">
            <a:off x="3752093" y="-768988"/>
            <a:ext cx="677887" cy="404543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814008" y="4725144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446131" y="2009499"/>
            <a:ext cx="2135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 WEB</a:t>
            </a: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49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5263"/>
            <a:ext cx="9203040" cy="693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CasellaDiTesto 8"/>
          <p:cNvSpPr txBox="1"/>
          <p:nvPr/>
        </p:nvSpPr>
        <p:spPr>
          <a:xfrm>
            <a:off x="2339378" y="1378606"/>
            <a:ext cx="395492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Siti</a:t>
            </a:r>
            <a:r>
              <a:rPr lang="it-IT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STATICI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HTML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CSS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DINAMICI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HTML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CSS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Linguaggi di programmazione:</a:t>
            </a:r>
          </a:p>
          <a:p>
            <a:pPr marL="1257300" lvl="2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Client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 err="1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Javascript</a:t>
            </a:r>
            <a:endParaRPr lang="it-IT" sz="1600" b="1" i="1" dirty="0">
              <a:solidFill>
                <a:srgbClr val="333366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33307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395" y="2924944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5618957">
            <a:off x="3904413" y="3748923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6508906">
            <a:off x="3752093" y="-768988"/>
            <a:ext cx="677887" cy="404543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814008" y="4725144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446131" y="2009499"/>
            <a:ext cx="2135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 WEB</a:t>
            </a: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65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5263"/>
            <a:ext cx="9203040" cy="693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CasellaDiTesto 8"/>
          <p:cNvSpPr txBox="1"/>
          <p:nvPr/>
        </p:nvSpPr>
        <p:spPr>
          <a:xfrm>
            <a:off x="2339378" y="1378606"/>
            <a:ext cx="395492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Siti</a:t>
            </a:r>
            <a:r>
              <a:rPr lang="it-IT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STATICI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HTML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CSS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DINAMICI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HTML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CSS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Linguaggi di programmazione:</a:t>
            </a:r>
          </a:p>
          <a:p>
            <a:pPr marL="1257300" lvl="2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Client – front-end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 err="1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Javascript</a:t>
            </a:r>
            <a:endParaRPr lang="it-IT" sz="1600" b="1" i="1" dirty="0">
              <a:solidFill>
                <a:srgbClr val="333366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Server – back-end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C#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VB.NET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PHP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Java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Python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sz="1600" b="1" i="1" dirty="0" err="1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Ecc</a:t>
            </a:r>
            <a:r>
              <a:rPr lang="it-IT" sz="1600" b="1" i="1" dirty="0">
                <a:solidFill>
                  <a:srgbClr val="33336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…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333070"/>
            <a:ext cx="1261762" cy="110404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395" y="2924944"/>
            <a:ext cx="1639069" cy="1639069"/>
          </a:xfrm>
          <a:prstGeom prst="rect">
            <a:avLst/>
          </a:prstGeom>
        </p:spPr>
      </p:pic>
      <p:sp>
        <p:nvSpPr>
          <p:cNvPr id="7" name="Freccia circolare a sinistra 6"/>
          <p:cNvSpPr/>
          <p:nvPr/>
        </p:nvSpPr>
        <p:spPr>
          <a:xfrm rot="5618957">
            <a:off x="3904413" y="3748923"/>
            <a:ext cx="576064" cy="37121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Freccia circolare a sinistra 7"/>
          <p:cNvSpPr/>
          <p:nvPr/>
        </p:nvSpPr>
        <p:spPr>
          <a:xfrm rot="16508906">
            <a:off x="3752093" y="-768988"/>
            <a:ext cx="677887" cy="404543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814008" y="4725144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Client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446131" y="2009499"/>
            <a:ext cx="2135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i="1" dirty="0">
                <a:solidFill>
                  <a:srgbClr val="333366"/>
                </a:solidFill>
                <a:latin typeface="Ebrima" pitchFamily="2" charset="0"/>
                <a:ea typeface="Microsoft YaHei" pitchFamily="34" charset="-122"/>
              </a:rPr>
              <a:t>Server WEB</a:t>
            </a: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08">
            <a:off x="516937" y="1577303"/>
            <a:ext cx="1799946" cy="18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650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198</Words>
  <Application>Microsoft Office PowerPoint</Application>
  <PresentationFormat>Presentazione su schermo (4:3)</PresentationFormat>
  <Paragraphs>109</Paragraphs>
  <Slides>14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Arial</vt:lpstr>
      <vt:lpstr>Calibri</vt:lpstr>
      <vt:lpstr>Ebrima</vt:lpstr>
      <vt:lpstr>Times New Roman</vt:lpstr>
      <vt:lpstr>Tema di Office</vt:lpstr>
      <vt:lpstr>Presentazione standard di PowerPoint</vt:lpstr>
      <vt:lpstr>Presentazione standard di PowerPoint</vt:lpstr>
      <vt:lpstr>Comunicazione web</vt:lpstr>
      <vt:lpstr>Comunicazione web</vt:lpstr>
      <vt:lpstr>Comunicazione web</vt:lpstr>
      <vt:lpstr>Software</vt:lpstr>
      <vt:lpstr>Software</vt:lpstr>
      <vt:lpstr>Software</vt:lpstr>
      <vt:lpstr>Software</vt:lpstr>
      <vt:lpstr>Software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Nunzia</dc:creator>
  <cp:lastModifiedBy>Marcello Valeri</cp:lastModifiedBy>
  <cp:revision>42</cp:revision>
  <dcterms:created xsi:type="dcterms:W3CDTF">2018-08-06T09:31:50Z</dcterms:created>
  <dcterms:modified xsi:type="dcterms:W3CDTF">2024-06-27T09:50:50Z</dcterms:modified>
</cp:coreProperties>
</file>