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65" r:id="rId2"/>
    <p:sldId id="256" r:id="rId3"/>
    <p:sldId id="266" r:id="rId4"/>
    <p:sldId id="267" r:id="rId5"/>
    <p:sldId id="269" r:id="rId6"/>
    <p:sldId id="279" r:id="rId7"/>
    <p:sldId id="283" r:id="rId8"/>
    <p:sldId id="282" r:id="rId9"/>
    <p:sldId id="281" r:id="rId10"/>
    <p:sldId id="272" r:id="rId11"/>
    <p:sldId id="273" r:id="rId12"/>
    <p:sldId id="271" r:id="rId13"/>
    <p:sldId id="484" r:id="rId14"/>
    <p:sldId id="482" r:id="rId1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54" autoAdjust="0"/>
    <p:restoredTop sz="94660"/>
  </p:normalViewPr>
  <p:slideViewPr>
    <p:cSldViewPr snapToGrid="0">
      <p:cViewPr varScale="1">
        <p:scale>
          <a:sx n="51" d="100"/>
          <a:sy n="51" d="100"/>
        </p:scale>
        <p:origin x="2179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399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Testo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Titolo Testo</a:t>
            </a:r>
          </a:p>
        </p:txBody>
      </p:sp>
      <p:sp>
        <p:nvSpPr>
          <p:cNvPr id="1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270000" y="50419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1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Orizzont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magine"/>
          <p:cNvSpPr>
            <a:spLocks noGrp="1"/>
          </p:cNvSpPr>
          <p:nvPr>
            <p:ph type="pic" idx="13"/>
          </p:nvPr>
        </p:nvSpPr>
        <p:spPr>
          <a:xfrm>
            <a:off x="1622088" y="289099"/>
            <a:ext cx="9753603" cy="65057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olo Testo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Titolo Testo</a:t>
            </a:r>
          </a:p>
        </p:txBody>
      </p:sp>
      <p:sp>
        <p:nvSpPr>
          <p:cNvPr id="22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2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- Centr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olo Testo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3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magine"/>
          <p:cNvSpPr>
            <a:spLocks noGrp="1"/>
          </p:cNvSpPr>
          <p:nvPr>
            <p:ph type="pic" idx="13"/>
          </p:nvPr>
        </p:nvSpPr>
        <p:spPr>
          <a:xfrm>
            <a:off x="2263775" y="613833"/>
            <a:ext cx="12401550" cy="82677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olo Testo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Titolo Testo</a:t>
            </a:r>
          </a:p>
        </p:txBody>
      </p:sp>
      <p:sp>
        <p:nvSpPr>
          <p:cNvPr id="40" name="Corpo livello uno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700"/>
            </a:lvl1pPr>
            <a:lvl2pPr marL="0" indent="0" algn="ctr">
              <a:spcBef>
                <a:spcPts val="0"/>
              </a:spcBef>
              <a:buSzTx/>
              <a:buNone/>
              <a:defRPr sz="3700"/>
            </a:lvl2pPr>
            <a:lvl3pPr marL="0" indent="0" algn="ctr">
              <a:spcBef>
                <a:spcPts val="0"/>
              </a:spcBef>
              <a:buSzTx/>
              <a:buNone/>
              <a:defRPr sz="3700"/>
            </a:lvl3pPr>
            <a:lvl4pPr marL="0" indent="0" algn="ctr">
              <a:spcBef>
                <a:spcPts val="0"/>
              </a:spcBef>
              <a:buSzTx/>
              <a:buNone/>
              <a:defRPr sz="3700"/>
            </a:lvl4pPr>
            <a:lvl5pPr marL="0" indent="0" algn="ctr">
              <a:spcBef>
                <a:spcPts val="0"/>
              </a:spcBef>
              <a:buSzTx/>
              <a:buNone/>
              <a:defRPr sz="37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1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- In a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49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57" name="Corpo livello un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58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punti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magine"/>
          <p:cNvSpPr>
            <a:spLocks noGrp="1"/>
          </p:cNvSpPr>
          <p:nvPr>
            <p:ph type="pic" idx="13"/>
          </p:nvPr>
        </p:nvSpPr>
        <p:spPr>
          <a:xfrm>
            <a:off x="4086225" y="2586566"/>
            <a:ext cx="9429750" cy="62865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olo Test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Titolo Testo</a:t>
            </a:r>
          </a:p>
        </p:txBody>
      </p:sp>
      <p:sp>
        <p:nvSpPr>
          <p:cNvPr id="67" name="Corpo livello uno…"/>
          <p:cNvSpPr txBox="1">
            <a:spLocks noGrp="1"/>
          </p:cNvSpPr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6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4290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orpo livello uno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7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magine"/>
          <p:cNvSpPr>
            <a:spLocks noGrp="1"/>
          </p:cNvSpPr>
          <p:nvPr>
            <p:ph type="pic" sz="quarter" idx="13"/>
          </p:nvPr>
        </p:nvSpPr>
        <p:spPr>
          <a:xfrm>
            <a:off x="6680200" y="5029200"/>
            <a:ext cx="6054748" cy="4038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magine"/>
          <p:cNvSpPr>
            <a:spLocks noGrp="1"/>
          </p:cNvSpPr>
          <p:nvPr>
            <p:ph type="pic" sz="quarter" idx="14"/>
          </p:nvPr>
        </p:nvSpPr>
        <p:spPr>
          <a:xfrm>
            <a:off x="6502400" y="889000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magine"/>
          <p:cNvSpPr>
            <a:spLocks noGrp="1"/>
          </p:cNvSpPr>
          <p:nvPr>
            <p:ph type="pic" idx="15"/>
          </p:nvPr>
        </p:nvSpPr>
        <p:spPr>
          <a:xfrm>
            <a:off x="-2374900" y="889000"/>
            <a:ext cx="11982450" cy="7988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Giovanni Mela"/>
          <p:cNvSpPr txBox="1"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 i="1"/>
            </a:lvl1pPr>
          </a:lstStyle>
          <a:p>
            <a:r>
              <a:t>–Giovanni Mela</a:t>
            </a:r>
          </a:p>
        </p:txBody>
      </p:sp>
      <p:sp>
        <p:nvSpPr>
          <p:cNvPr id="94" name="“Inserisci qui una citazione”."/>
          <p:cNvSpPr txBox="1">
            <a:spLocks noGrp="1"/>
          </p:cNvSpPr>
          <p:nvPr>
            <p:ph type="body" sz="quarter" idx="14"/>
          </p:nvPr>
        </p:nvSpPr>
        <p:spPr>
          <a:xfrm>
            <a:off x="1270000" y="4267112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“Inserisci qui una citazione”. </a:t>
            </a:r>
          </a:p>
        </p:txBody>
      </p:sp>
      <p:sp>
        <p:nvSpPr>
          <p:cNvPr id="95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magine"/>
          <p:cNvSpPr>
            <a:spLocks noGrp="1"/>
          </p:cNvSpPr>
          <p:nvPr>
            <p:ph type="pic" idx="13"/>
          </p:nvPr>
        </p:nvSpPr>
        <p:spPr>
          <a:xfrm>
            <a:off x="-949853" y="0"/>
            <a:ext cx="14904506" cy="994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umero diapositiva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>
            <a:spLocks noGrp="1"/>
          </p:cNvSpPr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Titolo Testo</a:t>
            </a:r>
          </a:p>
        </p:txBody>
      </p:sp>
      <p:sp>
        <p:nvSpPr>
          <p:cNvPr id="3" name="Corpo livello uno…"/>
          <p:cNvSpPr txBox="1">
            <a:spLocks noGrp="1"/>
          </p:cNvSpPr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6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E18E119-3F82-4FD7-AEDF-98C491124622}"/>
              </a:ext>
            </a:extLst>
          </p:cNvPr>
          <p:cNvSpPr txBox="1"/>
          <p:nvPr/>
        </p:nvSpPr>
        <p:spPr>
          <a:xfrm>
            <a:off x="387176" y="3142566"/>
            <a:ext cx="12131366" cy="9028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52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Intro " panose="02000000000000000000" pitchFamily="50" charset="0"/>
                <a:sym typeface="Helvetica Neue"/>
              </a:rPr>
              <a:t>React</a:t>
            </a:r>
            <a:endParaRPr kumimoji="0" lang="en-GB" sz="5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Intro " panose="02000000000000000000" pitchFamily="50" charset="0"/>
              <a:sym typeface="Helvetica Neue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C6745F4-9EC9-4FF4-9001-D918332822EC}"/>
              </a:ext>
            </a:extLst>
          </p:cNvPr>
          <p:cNvSpPr txBox="1"/>
          <p:nvPr/>
        </p:nvSpPr>
        <p:spPr>
          <a:xfrm>
            <a:off x="387176" y="4062671"/>
            <a:ext cx="12131366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3000" b="0" dirty="0">
                <a:latin typeface="Century Gothic" panose="020B0502020202020204" pitchFamily="34" charset="0"/>
              </a:rPr>
              <a:t>Docente: </a:t>
            </a:r>
            <a:r>
              <a:rPr lang="it-IT" sz="3000" b="0">
                <a:latin typeface="Century Gothic" panose="020B0502020202020204" pitchFamily="34" charset="0"/>
              </a:rPr>
              <a:t>Marcello Valeri</a:t>
            </a:r>
            <a:endParaRPr lang="it-IT" sz="3000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46281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C8D635E-2C4D-4E72-9648-8FC16A1BB62A}"/>
              </a:ext>
            </a:extLst>
          </p:cNvPr>
          <p:cNvSpPr txBox="1"/>
          <p:nvPr/>
        </p:nvSpPr>
        <p:spPr>
          <a:xfrm>
            <a:off x="4710275" y="3036024"/>
            <a:ext cx="359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facebook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97BBE3E-9B8C-4BD0-8345-68D23A7F8928}"/>
              </a:ext>
            </a:extLst>
          </p:cNvPr>
          <p:cNvSpPr txBox="1"/>
          <p:nvPr/>
        </p:nvSpPr>
        <p:spPr>
          <a:xfrm>
            <a:off x="5624676" y="3724858"/>
            <a:ext cx="186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grafica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C371F1A-4CCF-4679-8A63-5991B10C1DEA}"/>
              </a:ext>
            </a:extLst>
          </p:cNvPr>
          <p:cNvSpPr txBox="1"/>
          <p:nvPr/>
        </p:nvSpPr>
        <p:spPr>
          <a:xfrm>
            <a:off x="5802955" y="4271530"/>
            <a:ext cx="1682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REACT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4B84EA5B-ECDC-475B-9F36-14A46F8B06D6}"/>
              </a:ext>
            </a:extLst>
          </p:cNvPr>
          <p:cNvCxnSpPr>
            <a:stCxn id="16" idx="2"/>
          </p:cNvCxnSpPr>
          <p:nvPr/>
        </p:nvCxnSpPr>
        <p:spPr>
          <a:xfrm>
            <a:off x="6644031" y="4733195"/>
            <a:ext cx="2025769" cy="139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E300976-4E2C-4237-AE43-CBC791F533F7}"/>
              </a:ext>
            </a:extLst>
          </p:cNvPr>
          <p:cNvSpPr txBox="1"/>
          <p:nvPr/>
        </p:nvSpPr>
        <p:spPr>
          <a:xfrm>
            <a:off x="8488645" y="6208963"/>
            <a:ext cx="1400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C.D.N.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47F45E1-5626-45F3-903A-7A54155EC63E}"/>
              </a:ext>
            </a:extLst>
          </p:cNvPr>
          <p:cNvSpPr txBox="1"/>
          <p:nvPr/>
        </p:nvSpPr>
        <p:spPr>
          <a:xfrm>
            <a:off x="3793000" y="6075253"/>
            <a:ext cx="2160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LOCALE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5F841472-82E0-4F29-AF0B-04C01508396D}"/>
              </a:ext>
            </a:extLst>
          </p:cNvPr>
          <p:cNvCxnSpPr/>
          <p:nvPr/>
        </p:nvCxnSpPr>
        <p:spPr>
          <a:xfrm flipH="1">
            <a:off x="4710275" y="4733195"/>
            <a:ext cx="1176069" cy="1298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1813497E-F21B-4813-8054-635FD628C516}"/>
              </a:ext>
            </a:extLst>
          </p:cNvPr>
          <p:cNvSpPr txBox="1"/>
          <p:nvPr/>
        </p:nvSpPr>
        <p:spPr>
          <a:xfrm>
            <a:off x="3509615" y="922177"/>
            <a:ext cx="6669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REACT è UNA LIBRERIA/FRAMEWORK IN JAVASCRIPT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AF9E7BF-C97E-45D0-A9B6-6D1D1108B014}"/>
              </a:ext>
            </a:extLst>
          </p:cNvPr>
          <p:cNvSpPr txBox="1"/>
          <p:nvPr/>
        </p:nvSpPr>
        <p:spPr>
          <a:xfrm>
            <a:off x="1871858" y="2248453"/>
            <a:ext cx="325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LIBRERIA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C666126-EA6B-4EE3-8FA3-7B7A1913B27A}"/>
              </a:ext>
            </a:extLst>
          </p:cNvPr>
          <p:cNvSpPr txBox="1"/>
          <p:nvPr/>
        </p:nvSpPr>
        <p:spPr>
          <a:xfrm>
            <a:off x="8386552" y="2248453"/>
            <a:ext cx="3250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FRAMEWORK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1D6F502-7F93-4BD7-A6F3-C820234E6A5B}"/>
              </a:ext>
            </a:extLst>
          </p:cNvPr>
          <p:cNvSpPr txBox="1"/>
          <p:nvPr/>
        </p:nvSpPr>
        <p:spPr>
          <a:xfrm>
            <a:off x="966084" y="2931543"/>
            <a:ext cx="59533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ISTRUZIONI CHE IMPLEMENTANO</a:t>
            </a:r>
          </a:p>
          <a:p>
            <a:r>
              <a:rPr lang="it-IT" sz="2000" b="0" dirty="0"/>
              <a:t>ISTRUZIONI ESITENTI</a:t>
            </a:r>
          </a:p>
          <a:p>
            <a:r>
              <a:rPr lang="it-IT" sz="2000" b="0" dirty="0"/>
              <a:t>$(«#ID#).CSS(«</a:t>
            </a:r>
            <a:r>
              <a:rPr lang="it-IT" sz="2000" b="0" dirty="0" err="1"/>
              <a:t>color»,»red</a:t>
            </a:r>
            <a:r>
              <a:rPr lang="it-IT" sz="2000" b="0" dirty="0"/>
              <a:t>»).APPEN….</a:t>
            </a:r>
          </a:p>
          <a:p>
            <a:r>
              <a:rPr lang="it-IT" sz="2000" b="0" dirty="0"/>
              <a:t>AGGIUNGI FUNZIONI SU FUNZIONI Già ESITENTI (SFRUTTANDO LA LOGICA)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0AB49AB-5D5B-40D9-9AEF-D684923AEA55}"/>
              </a:ext>
            </a:extLst>
          </p:cNvPr>
          <p:cNvSpPr txBox="1"/>
          <p:nvPr/>
        </p:nvSpPr>
        <p:spPr>
          <a:xfrm>
            <a:off x="7423270" y="2931543"/>
            <a:ext cx="5022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AMBIENTE CHE CREA NUOVE ISTRUZIONI, IMPLEMENTANTO ANCHE  ISTRUZIONI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71CBEAF3-6DF0-40C2-B50F-A70E0D87BDAF}"/>
              </a:ext>
            </a:extLst>
          </p:cNvPr>
          <p:cNvCxnSpPr>
            <a:cxnSpLocks/>
          </p:cNvCxnSpPr>
          <p:nvPr/>
        </p:nvCxnSpPr>
        <p:spPr>
          <a:xfrm>
            <a:off x="9139926" y="4408871"/>
            <a:ext cx="60385" cy="1291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D556AA1-C168-4F56-B6BF-AB11DCC8D394}"/>
              </a:ext>
            </a:extLst>
          </p:cNvPr>
          <p:cNvSpPr txBox="1"/>
          <p:nvPr/>
        </p:nvSpPr>
        <p:spPr>
          <a:xfrm>
            <a:off x="7871842" y="5700623"/>
            <a:ext cx="3747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ANGULAR 2.0</a:t>
            </a:r>
          </a:p>
          <a:p>
            <a:r>
              <a:rPr lang="it-IT" dirty="0"/>
              <a:t>REACT</a:t>
            </a:r>
          </a:p>
          <a:p>
            <a:r>
              <a:rPr lang="it-IT" dirty="0"/>
              <a:t>Installare strumenti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4C199CD3-FC88-455E-9770-DF98E2F2D174}"/>
              </a:ext>
            </a:extLst>
          </p:cNvPr>
          <p:cNvSpPr txBox="1"/>
          <p:nvPr/>
        </p:nvSpPr>
        <p:spPr>
          <a:xfrm>
            <a:off x="1673450" y="4967377"/>
            <a:ext cx="2944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Jquery</a:t>
            </a:r>
            <a:endParaRPr lang="it-IT" dirty="0"/>
          </a:p>
          <a:p>
            <a:r>
              <a:rPr lang="it-IT" dirty="0"/>
              <a:t>Bootstrap</a:t>
            </a:r>
          </a:p>
          <a:p>
            <a:r>
              <a:rPr lang="it-IT" dirty="0"/>
              <a:t>React.js</a:t>
            </a:r>
          </a:p>
        </p:txBody>
      </p:sp>
    </p:spTree>
    <p:extLst>
      <p:ext uri="{BB962C8B-B14F-4D97-AF65-F5344CB8AC3E}">
        <p14:creationId xmlns:p14="http://schemas.microsoft.com/office/powerpoint/2010/main" val="2015309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BC2AB5E-E6FD-4BCA-A13F-40CE702B2B85}"/>
              </a:ext>
            </a:extLst>
          </p:cNvPr>
          <p:cNvSpPr txBox="1"/>
          <p:nvPr/>
        </p:nvSpPr>
        <p:spPr>
          <a:xfrm>
            <a:off x="999188" y="1983426"/>
            <a:ext cx="4195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REACT: POTENZIO LA GRAFICA</a:t>
            </a:r>
          </a:p>
          <a:p>
            <a:r>
              <a:rPr lang="it-IT" sz="2000" b="0" dirty="0"/>
              <a:t>VIRTUAL DOM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2348FE0-244B-4A75-B4FF-1AB4A0E10F44}"/>
              </a:ext>
            </a:extLst>
          </p:cNvPr>
          <p:cNvSpPr txBox="1"/>
          <p:nvPr/>
        </p:nvSpPr>
        <p:spPr>
          <a:xfrm>
            <a:off x="7210144" y="2033934"/>
            <a:ext cx="4795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0" dirty="0"/>
              <a:t>ANGULAR: POTENZIO LA GESTIONE DEI DATI (BINDING)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5E80928-472B-4F77-8FF2-E79D9D9DE1E6}"/>
              </a:ext>
            </a:extLst>
          </p:cNvPr>
          <p:cNvSpPr txBox="1"/>
          <p:nvPr/>
        </p:nvSpPr>
        <p:spPr>
          <a:xfrm>
            <a:off x="3343642" y="5554839"/>
            <a:ext cx="62776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PATTERN (METODOLOGIA CHE è PROGETTATA PER RISOLVERE UN PROBLEMA -</a:t>
            </a:r>
          </a:p>
          <a:p>
            <a:r>
              <a:rPr lang="it-IT" dirty="0"/>
              <a:t>PROTOCOLLO DI UTILIZZO)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855B0FEF-C0A8-4AFB-97FD-73F1125A314D}"/>
              </a:ext>
            </a:extLst>
          </p:cNvPr>
          <p:cNvCxnSpPr>
            <a:cxnSpLocks/>
          </p:cNvCxnSpPr>
          <p:nvPr/>
        </p:nvCxnSpPr>
        <p:spPr>
          <a:xfrm>
            <a:off x="3276052" y="2925711"/>
            <a:ext cx="2236662" cy="2475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A389E6D-B04A-4162-90DD-B0FC3863F72A}"/>
              </a:ext>
            </a:extLst>
          </p:cNvPr>
          <p:cNvCxnSpPr>
            <a:cxnSpLocks/>
          </p:cNvCxnSpPr>
          <p:nvPr/>
        </p:nvCxnSpPr>
        <p:spPr>
          <a:xfrm flipH="1">
            <a:off x="7341515" y="3190532"/>
            <a:ext cx="1901161" cy="218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2A820235-DBD8-4ED3-B3C6-C713874F9065}"/>
              </a:ext>
            </a:extLst>
          </p:cNvPr>
          <p:cNvSpPr txBox="1"/>
          <p:nvPr/>
        </p:nvSpPr>
        <p:spPr>
          <a:xfrm>
            <a:off x="3065542" y="7630852"/>
            <a:ext cx="70060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000" dirty="0">
                <a:solidFill>
                  <a:srgbClr val="FF0000"/>
                </a:solidFill>
              </a:rPr>
              <a:t>S</a:t>
            </a:r>
            <a:r>
              <a:rPr lang="it-IT" sz="3000" dirty="0"/>
              <a:t>ingle </a:t>
            </a:r>
            <a:r>
              <a:rPr lang="it-IT" sz="3000" dirty="0">
                <a:solidFill>
                  <a:srgbClr val="FF0000"/>
                </a:solidFill>
              </a:rPr>
              <a:t>P</a:t>
            </a:r>
            <a:r>
              <a:rPr lang="it-IT" sz="3000" dirty="0"/>
              <a:t>age </a:t>
            </a:r>
            <a:r>
              <a:rPr lang="it-IT" sz="3000" dirty="0">
                <a:solidFill>
                  <a:srgbClr val="FF0000"/>
                </a:solidFill>
              </a:rPr>
              <a:t>A</a:t>
            </a:r>
            <a:r>
              <a:rPr lang="it-IT" sz="3000" dirty="0"/>
              <a:t>pplication</a:t>
            </a:r>
          </a:p>
        </p:txBody>
      </p:sp>
    </p:spTree>
    <p:extLst>
      <p:ext uri="{BB962C8B-B14F-4D97-AF65-F5344CB8AC3E}">
        <p14:creationId xmlns:p14="http://schemas.microsoft.com/office/powerpoint/2010/main" val="36749477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tangolo 43">
            <a:extLst>
              <a:ext uri="{FF2B5EF4-FFF2-40B4-BE49-F238E27FC236}">
                <a16:creationId xmlns:a16="http://schemas.microsoft.com/office/drawing/2014/main" id="{16A54F58-BAA6-4FD0-9C44-7A900F989443}"/>
              </a:ext>
            </a:extLst>
          </p:cNvPr>
          <p:cNvSpPr/>
          <p:nvPr/>
        </p:nvSpPr>
        <p:spPr>
          <a:xfrm>
            <a:off x="1280064" y="2603979"/>
            <a:ext cx="5676181" cy="4252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B2DADF63-AB8B-4CBB-979F-4D9C5AC35582}"/>
              </a:ext>
            </a:extLst>
          </p:cNvPr>
          <p:cNvSpPr/>
          <p:nvPr/>
        </p:nvSpPr>
        <p:spPr>
          <a:xfrm>
            <a:off x="1638300" y="2983542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NOME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689AD3FA-B044-4149-BB9F-77BA80D38AF5}"/>
              </a:ext>
            </a:extLst>
          </p:cNvPr>
          <p:cNvSpPr/>
          <p:nvPr/>
        </p:nvSpPr>
        <p:spPr>
          <a:xfrm>
            <a:off x="4408577" y="2983542"/>
            <a:ext cx="1889185" cy="4744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6B14584F-40A3-4E83-9FB5-BC622C950279}"/>
              </a:ext>
            </a:extLst>
          </p:cNvPr>
          <p:cNvSpPr/>
          <p:nvPr/>
        </p:nvSpPr>
        <p:spPr>
          <a:xfrm>
            <a:off x="1638300" y="3688033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COGNOME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BC1D7202-74B8-4D35-9994-075C254080E3}"/>
              </a:ext>
            </a:extLst>
          </p:cNvPr>
          <p:cNvSpPr/>
          <p:nvPr/>
        </p:nvSpPr>
        <p:spPr>
          <a:xfrm>
            <a:off x="4408577" y="3688033"/>
            <a:ext cx="1889185" cy="47445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0516C014-5E14-4FDD-858B-33BF296048E6}"/>
              </a:ext>
            </a:extLst>
          </p:cNvPr>
          <p:cNvSpPr/>
          <p:nvPr/>
        </p:nvSpPr>
        <p:spPr>
          <a:xfrm>
            <a:off x="1674124" y="6000632"/>
            <a:ext cx="2100892" cy="48739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REGISTRA</a:t>
            </a:r>
          </a:p>
        </p:txBody>
      </p:sp>
      <p:sp>
        <p:nvSpPr>
          <p:cNvPr id="50" name="Cilindro 49">
            <a:extLst>
              <a:ext uri="{FF2B5EF4-FFF2-40B4-BE49-F238E27FC236}">
                <a16:creationId xmlns:a16="http://schemas.microsoft.com/office/drawing/2014/main" id="{4BFD2B95-4D66-476C-B29B-40266D45BA4B}"/>
              </a:ext>
            </a:extLst>
          </p:cNvPr>
          <p:cNvSpPr/>
          <p:nvPr/>
        </p:nvSpPr>
        <p:spPr>
          <a:xfrm>
            <a:off x="8284713" y="4162485"/>
            <a:ext cx="3186023" cy="3004868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SERVER</a:t>
            </a:r>
          </a:p>
        </p:txBody>
      </p: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995F76C7-6603-466D-8476-4165120DF310}"/>
              </a:ext>
            </a:extLst>
          </p:cNvPr>
          <p:cNvCxnSpPr>
            <a:cxnSpLocks/>
          </p:cNvCxnSpPr>
          <p:nvPr/>
        </p:nvCxnSpPr>
        <p:spPr>
          <a:xfrm flipV="1">
            <a:off x="3893868" y="5243664"/>
            <a:ext cx="4390845" cy="8248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AE545962-7C90-490B-A69E-99E9AF376B59}"/>
              </a:ext>
            </a:extLst>
          </p:cNvPr>
          <p:cNvCxnSpPr>
            <a:cxnSpLocks/>
          </p:cNvCxnSpPr>
          <p:nvPr/>
        </p:nvCxnSpPr>
        <p:spPr>
          <a:xfrm flipH="1">
            <a:off x="3833483" y="5804379"/>
            <a:ext cx="4451232" cy="5283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84D65871-3456-4441-95E1-E7F3301D29F0}"/>
              </a:ext>
            </a:extLst>
          </p:cNvPr>
          <p:cNvSpPr/>
          <p:nvPr/>
        </p:nvSpPr>
        <p:spPr>
          <a:xfrm>
            <a:off x="4408577" y="4381021"/>
            <a:ext cx="1889185" cy="47445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DC28C82B-FC62-413C-A606-854616F9CD1D}"/>
              </a:ext>
            </a:extLst>
          </p:cNvPr>
          <p:cNvSpPr/>
          <p:nvPr/>
        </p:nvSpPr>
        <p:spPr>
          <a:xfrm>
            <a:off x="1659866" y="4381021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REGIONE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8CEF4674-039A-4BF9-91E3-0D61175162DE}"/>
              </a:ext>
            </a:extLst>
          </p:cNvPr>
          <p:cNvSpPr/>
          <p:nvPr/>
        </p:nvSpPr>
        <p:spPr>
          <a:xfrm>
            <a:off x="5808932" y="4462971"/>
            <a:ext cx="405442" cy="314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Rettangolo con angoli arrotondati 55">
            <a:extLst>
              <a:ext uri="{FF2B5EF4-FFF2-40B4-BE49-F238E27FC236}">
                <a16:creationId xmlns:a16="http://schemas.microsoft.com/office/drawing/2014/main" id="{4EC3E7DE-E3C8-4EEA-85A9-08A9AC66B5B4}"/>
              </a:ext>
            </a:extLst>
          </p:cNvPr>
          <p:cNvSpPr/>
          <p:nvPr/>
        </p:nvSpPr>
        <p:spPr>
          <a:xfrm>
            <a:off x="4408577" y="5035191"/>
            <a:ext cx="1889185" cy="47445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AFE3C6ED-96F7-46EB-9DD9-E179F6A0BCF4}"/>
              </a:ext>
            </a:extLst>
          </p:cNvPr>
          <p:cNvSpPr/>
          <p:nvPr/>
        </p:nvSpPr>
        <p:spPr>
          <a:xfrm>
            <a:off x="1659866" y="5035191"/>
            <a:ext cx="2201413" cy="4744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CITTA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9A226EF1-A4C6-414B-8484-9BA64A58B594}"/>
              </a:ext>
            </a:extLst>
          </p:cNvPr>
          <p:cNvSpPr/>
          <p:nvPr/>
        </p:nvSpPr>
        <p:spPr>
          <a:xfrm>
            <a:off x="5808932" y="5117141"/>
            <a:ext cx="405442" cy="314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1B4B1799-C36F-4F1A-B35A-7E920647422C}"/>
              </a:ext>
            </a:extLst>
          </p:cNvPr>
          <p:cNvCxnSpPr>
            <a:cxnSpLocks/>
          </p:cNvCxnSpPr>
          <p:nvPr/>
        </p:nvCxnSpPr>
        <p:spPr>
          <a:xfrm>
            <a:off x="6214374" y="4511136"/>
            <a:ext cx="2070339" cy="2063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894F2E24-37D8-4592-9767-0A72C09DA215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6297762" y="4998892"/>
            <a:ext cx="1863308" cy="2735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7C152E6-4418-4DCD-AEB0-D96FE6002078}"/>
              </a:ext>
            </a:extLst>
          </p:cNvPr>
          <p:cNvSpPr txBox="1"/>
          <p:nvPr/>
        </p:nvSpPr>
        <p:spPr>
          <a:xfrm>
            <a:off x="3833483" y="1065407"/>
            <a:ext cx="523642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Architettura web</a:t>
            </a:r>
          </a:p>
        </p:txBody>
      </p:sp>
    </p:spTree>
    <p:extLst>
      <p:ext uri="{BB962C8B-B14F-4D97-AF65-F5344CB8AC3E}">
        <p14:creationId xmlns:p14="http://schemas.microsoft.com/office/powerpoint/2010/main" val="21300922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31531" y="3855458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B285D8-2922-457B-954F-39395685E649}"/>
              </a:ext>
            </a:extLst>
          </p:cNvPr>
          <p:cNvSpPr txBox="1"/>
          <p:nvPr/>
        </p:nvSpPr>
        <p:spPr>
          <a:xfrm>
            <a:off x="5715000" y="5032385"/>
            <a:ext cx="425599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Testo</a:t>
            </a:r>
            <a:b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Visualizzato nella home del sito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4776938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8488181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31531" y="3855458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8683503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58893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31531" y="3866649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4B285D8-2922-457B-954F-39395685E649}"/>
              </a:ext>
            </a:extLst>
          </p:cNvPr>
          <p:cNvSpPr txBox="1"/>
          <p:nvPr/>
        </p:nvSpPr>
        <p:spPr>
          <a:xfrm>
            <a:off x="5715000" y="5032385"/>
            <a:ext cx="425599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Testo</a:t>
            </a:r>
            <a:b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Visualizzato nella home del sito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C7BCAA4-AF0B-438A-BD23-D301DC3E142E}"/>
              </a:ext>
            </a:extLst>
          </p:cNvPr>
          <p:cNvSpPr txBox="1"/>
          <p:nvPr/>
        </p:nvSpPr>
        <p:spPr>
          <a:xfrm>
            <a:off x="4210187" y="688305"/>
            <a:ext cx="3868109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Pattern S.P.A.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FE0ECC4-F0A2-4495-9E69-D51DF5FDC9DA}"/>
              </a:ext>
            </a:extLst>
          </p:cNvPr>
          <p:cNvSpPr/>
          <p:nvPr/>
        </p:nvSpPr>
        <p:spPr>
          <a:xfrm>
            <a:off x="1028939" y="1655119"/>
            <a:ext cx="10946921" cy="441146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sz="2200" b="0" dirty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rPr>
              <a:t>http://www.........</a:t>
            </a:r>
            <a:endParaRPr kumimoji="0" lang="it-IT" sz="2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1706903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30222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100" dirty="0"/>
              <a:t>Inserisci fattura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51701" y="3848449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BA07AA2-C028-4298-9C2B-E15DC1FBBE1A}"/>
              </a:ext>
            </a:extLst>
          </p:cNvPr>
          <p:cNvSpPr/>
          <p:nvPr/>
        </p:nvSpPr>
        <p:spPr>
          <a:xfrm>
            <a:off x="8092310" y="4420816"/>
            <a:ext cx="2689412" cy="55132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4E410C-4362-4B15-88E3-5FD1FBFAF4C0}"/>
              </a:ext>
            </a:extLst>
          </p:cNvPr>
          <p:cNvSpPr txBox="1"/>
          <p:nvPr/>
        </p:nvSpPr>
        <p:spPr>
          <a:xfrm>
            <a:off x="5315493" y="4458534"/>
            <a:ext cx="198344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Data fattura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B0BD42F-23D2-4B53-ABFC-9726BE5F2F47}"/>
              </a:ext>
            </a:extLst>
          </p:cNvPr>
          <p:cNvSpPr txBox="1"/>
          <p:nvPr/>
        </p:nvSpPr>
        <p:spPr>
          <a:xfrm>
            <a:off x="4961201" y="5394512"/>
            <a:ext cx="245502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Importo fattura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BC7F6B0D-8805-4713-ACA1-7FDAE5F45486}"/>
              </a:ext>
            </a:extLst>
          </p:cNvPr>
          <p:cNvSpPr/>
          <p:nvPr/>
        </p:nvSpPr>
        <p:spPr>
          <a:xfrm>
            <a:off x="8092310" y="5369859"/>
            <a:ext cx="2689412" cy="55132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3E164BE-68B0-44FF-89EF-F850AC86A3F3}"/>
              </a:ext>
            </a:extLst>
          </p:cNvPr>
          <p:cNvSpPr txBox="1"/>
          <p:nvPr/>
        </p:nvSpPr>
        <p:spPr>
          <a:xfrm>
            <a:off x="5046552" y="6175657"/>
            <a:ext cx="266924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Tipo prodotto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824D45E2-7904-48EA-A298-4F98300C9910}"/>
              </a:ext>
            </a:extLst>
          </p:cNvPr>
          <p:cNvSpPr/>
          <p:nvPr/>
        </p:nvSpPr>
        <p:spPr>
          <a:xfrm>
            <a:off x="8149143" y="6277950"/>
            <a:ext cx="2689412" cy="551329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73CA872A-2121-4244-AC43-01E5E19666E9}"/>
              </a:ext>
            </a:extLst>
          </p:cNvPr>
          <p:cNvSpPr/>
          <p:nvPr/>
        </p:nvSpPr>
        <p:spPr>
          <a:xfrm>
            <a:off x="10048857" y="6397534"/>
            <a:ext cx="477371" cy="343314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6FFD8DC1-5FE2-4743-B5DC-FBF6024DE4CE}"/>
              </a:ext>
            </a:extLst>
          </p:cNvPr>
          <p:cNvCxnSpPr/>
          <p:nvPr/>
        </p:nvCxnSpPr>
        <p:spPr>
          <a:xfrm>
            <a:off x="3203689" y="4266818"/>
            <a:ext cx="948012" cy="1078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ettangolo 4">
            <a:extLst>
              <a:ext uri="{FF2B5EF4-FFF2-40B4-BE49-F238E27FC236}">
                <a16:creationId xmlns:a16="http://schemas.microsoft.com/office/drawing/2014/main" id="{C6701662-650C-D9BD-A7F2-E294EC83CAF5}"/>
              </a:ext>
            </a:extLst>
          </p:cNvPr>
          <p:cNvSpPr/>
          <p:nvPr/>
        </p:nvSpPr>
        <p:spPr>
          <a:xfrm>
            <a:off x="4713767" y="4210493"/>
            <a:ext cx="6514214" cy="289205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00A1101A-51A1-8820-74D4-6F8BC1D54B0C}"/>
              </a:ext>
            </a:extLst>
          </p:cNvPr>
          <p:cNvSpPr/>
          <p:nvPr/>
        </p:nvSpPr>
        <p:spPr>
          <a:xfrm>
            <a:off x="1425749" y="4004930"/>
            <a:ext cx="2049865" cy="3514978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1151078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tangolo 24">
            <a:extLst>
              <a:ext uri="{FF2B5EF4-FFF2-40B4-BE49-F238E27FC236}">
                <a16:creationId xmlns:a16="http://schemas.microsoft.com/office/drawing/2014/main" id="{EF4AA1B0-002C-451C-85C0-3922DF01D9A9}"/>
              </a:ext>
            </a:extLst>
          </p:cNvPr>
          <p:cNvSpPr/>
          <p:nvPr/>
        </p:nvSpPr>
        <p:spPr>
          <a:xfrm>
            <a:off x="1028939" y="2087043"/>
            <a:ext cx="10946921" cy="6116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068FCCE6-1142-4F51-8A09-D8347E83DA92}"/>
              </a:ext>
            </a:extLst>
          </p:cNvPr>
          <p:cNvSpPr/>
          <p:nvPr/>
        </p:nvSpPr>
        <p:spPr>
          <a:xfrm>
            <a:off x="1218720" y="2233692"/>
            <a:ext cx="10558732" cy="135434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1423E53D-F4EE-41E1-A8CF-F6902F10F454}"/>
              </a:ext>
            </a:extLst>
          </p:cNvPr>
          <p:cNvSpPr/>
          <p:nvPr/>
        </p:nvSpPr>
        <p:spPr>
          <a:xfrm>
            <a:off x="1537897" y="234583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30AA493B-2D78-4B14-9879-826F00D4FBD0}"/>
              </a:ext>
            </a:extLst>
          </p:cNvPr>
          <p:cNvSpPr/>
          <p:nvPr/>
        </p:nvSpPr>
        <p:spPr>
          <a:xfrm>
            <a:off x="1537897" y="2759902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AEDD52CC-C7EB-4D5E-A578-D50F06AFEFC3}"/>
              </a:ext>
            </a:extLst>
          </p:cNvPr>
          <p:cNvSpPr/>
          <p:nvPr/>
        </p:nvSpPr>
        <p:spPr>
          <a:xfrm>
            <a:off x="1537897" y="3173969"/>
            <a:ext cx="1242204" cy="30192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D3BA698-32BB-492D-92FF-75B3F027B5F4}"/>
              </a:ext>
            </a:extLst>
          </p:cNvPr>
          <p:cNvSpPr txBox="1"/>
          <p:nvPr/>
        </p:nvSpPr>
        <p:spPr>
          <a:xfrm>
            <a:off x="3823897" y="2463454"/>
            <a:ext cx="4399472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it-IT" sz="1800" dirty="0"/>
              <a:t>BUONA GIORNATA</a:t>
            </a:r>
          </a:p>
          <a:p>
            <a:r>
              <a:rPr lang="it-IT" sz="1800" dirty="0"/>
              <a:t>E SALUTI DA REACT</a:t>
            </a:r>
          </a:p>
          <a:p>
            <a:r>
              <a:rPr lang="it-IT" sz="1800" dirty="0"/>
              <a:t>OGGI è LUNEDI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1885B355-0294-43B6-8F04-1A5B61D3AEAE}"/>
              </a:ext>
            </a:extLst>
          </p:cNvPr>
          <p:cNvSpPr/>
          <p:nvPr/>
        </p:nvSpPr>
        <p:spPr>
          <a:xfrm>
            <a:off x="1230222" y="3855458"/>
            <a:ext cx="2593675" cy="407167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2B906151-2F21-4DBB-B29D-70C83603CBFE}"/>
              </a:ext>
            </a:extLst>
          </p:cNvPr>
          <p:cNvSpPr/>
          <p:nvPr/>
        </p:nvSpPr>
        <p:spPr>
          <a:xfrm>
            <a:off x="1684546" y="4119998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100" dirty="0"/>
              <a:t>Inserisci fattura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6B5BFB3-FD1A-42D2-AAFE-005F4E8347C7}"/>
              </a:ext>
            </a:extLst>
          </p:cNvPr>
          <p:cNvSpPr/>
          <p:nvPr/>
        </p:nvSpPr>
        <p:spPr>
          <a:xfrm>
            <a:off x="1684545" y="483455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200" dirty="0"/>
              <a:t>Saldo bancario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CA3862F4-4412-4D55-984E-DCC2F9A382C1}"/>
              </a:ext>
            </a:extLst>
          </p:cNvPr>
          <p:cNvSpPr/>
          <p:nvPr/>
        </p:nvSpPr>
        <p:spPr>
          <a:xfrm>
            <a:off x="1684544" y="5544800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B32584A8-A509-40CD-AC2A-9E1140DDBCE6}"/>
              </a:ext>
            </a:extLst>
          </p:cNvPr>
          <p:cNvSpPr/>
          <p:nvPr/>
        </p:nvSpPr>
        <p:spPr>
          <a:xfrm>
            <a:off x="1684543" y="6267266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7742727F-338B-4E5B-A679-98148B4AFAC0}"/>
              </a:ext>
            </a:extLst>
          </p:cNvPr>
          <p:cNvSpPr/>
          <p:nvPr/>
        </p:nvSpPr>
        <p:spPr>
          <a:xfrm>
            <a:off x="1684542" y="6946235"/>
            <a:ext cx="1463615" cy="301925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E2662EEF-56AD-482C-91DF-F17C789D4F94}"/>
              </a:ext>
            </a:extLst>
          </p:cNvPr>
          <p:cNvSpPr/>
          <p:nvPr/>
        </p:nvSpPr>
        <p:spPr>
          <a:xfrm>
            <a:off x="4151701" y="3848449"/>
            <a:ext cx="7565366" cy="4071672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3AEB54-2625-45A7-91BF-D8E2BA29064F}"/>
              </a:ext>
            </a:extLst>
          </p:cNvPr>
          <p:cNvSpPr txBox="1"/>
          <p:nvPr/>
        </p:nvSpPr>
        <p:spPr>
          <a:xfrm>
            <a:off x="4605618" y="4269530"/>
            <a:ext cx="264907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it-IT" dirty="0"/>
              <a:t>Saldo al 15/2/201:</a:t>
            </a:r>
            <a:endParaRPr kumimoji="0" lang="it-IT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A92109D-A447-4013-8033-8C81020B7EC8}"/>
              </a:ext>
            </a:extLst>
          </p:cNvPr>
          <p:cNvSpPr/>
          <p:nvPr/>
        </p:nvSpPr>
        <p:spPr>
          <a:xfrm>
            <a:off x="7799294" y="4280999"/>
            <a:ext cx="3059206" cy="441146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2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1,200,000 euro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75D46867-A22C-45EC-8280-C021701B0B5C}"/>
              </a:ext>
            </a:extLst>
          </p:cNvPr>
          <p:cNvCxnSpPr/>
          <p:nvPr/>
        </p:nvCxnSpPr>
        <p:spPr>
          <a:xfrm flipV="1">
            <a:off x="3368150" y="4657519"/>
            <a:ext cx="783551" cy="296029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8E84B79F-CF80-6BC2-9ADA-372F64FFF0D9}"/>
              </a:ext>
            </a:extLst>
          </p:cNvPr>
          <p:cNvSpPr/>
          <p:nvPr/>
        </p:nvSpPr>
        <p:spPr>
          <a:xfrm>
            <a:off x="4486940" y="4047460"/>
            <a:ext cx="6833314" cy="90608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4996018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F649E0D-1523-44F3-ACC9-FB95B2ADFB7B}"/>
              </a:ext>
            </a:extLst>
          </p:cNvPr>
          <p:cNvSpPr txBox="1"/>
          <p:nvPr/>
        </p:nvSpPr>
        <p:spPr>
          <a:xfrm>
            <a:off x="500092" y="1473779"/>
            <a:ext cx="120046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/>
              <a:t>C.D.N.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it-IT" dirty="0"/>
              <a:t>COLLEGAMENTO AD UN FILE ESTERNO  </a:t>
            </a:r>
            <a:r>
              <a:rPr lang="it-IT" b="1" dirty="0">
                <a:solidFill>
                  <a:srgbClr val="FF0000"/>
                </a:solidFill>
              </a:rPr>
              <a:t>C</a:t>
            </a:r>
            <a:r>
              <a:rPr lang="it-IT" dirty="0"/>
              <a:t>ONTENT </a:t>
            </a:r>
            <a:r>
              <a:rPr lang="it-IT" b="1" dirty="0">
                <a:solidFill>
                  <a:srgbClr val="FF0000"/>
                </a:solidFill>
              </a:rPr>
              <a:t>D</a:t>
            </a:r>
            <a:r>
              <a:rPr lang="it-IT" dirty="0"/>
              <a:t>ELIVERY </a:t>
            </a:r>
            <a:r>
              <a:rPr lang="it-IT" b="1" dirty="0">
                <a:solidFill>
                  <a:srgbClr val="FF0000"/>
                </a:solidFill>
              </a:rPr>
              <a:t>N</a:t>
            </a:r>
            <a:r>
              <a:rPr lang="it-IT" dirty="0"/>
              <a:t>ETWORK</a:t>
            </a:r>
          </a:p>
          <a:p>
            <a:pPr algn="l"/>
            <a:r>
              <a:rPr lang="it-IT" dirty="0"/>
              <a:t>&lt;script&gt; che punta al file scaricato &lt;/script&gt;</a:t>
            </a:r>
          </a:p>
          <a:p>
            <a:pPr algn="l"/>
            <a:r>
              <a:rPr lang="it-IT" dirty="0"/>
              <a:t>Copiare la libreria in locale sul progetto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8482D95-5C34-448A-926B-73EAF8AEF39E}"/>
              </a:ext>
            </a:extLst>
          </p:cNvPr>
          <p:cNvSpPr txBox="1"/>
          <p:nvPr/>
        </p:nvSpPr>
        <p:spPr>
          <a:xfrm>
            <a:off x="548971" y="3412366"/>
            <a:ext cx="51874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dirty="0"/>
              <a:t>IN LOCALE: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LIBRERIA (</a:t>
            </a:r>
            <a:r>
              <a:rPr lang="it-IT" dirty="0" err="1"/>
              <a:t>non’è</a:t>
            </a:r>
            <a:r>
              <a:rPr lang="it-IT" dirty="0"/>
              <a:t> esattamente la </a:t>
            </a:r>
            <a:r>
              <a:rPr lang="it-IT" u="sng" dirty="0"/>
              <a:t>libreria</a:t>
            </a:r>
            <a:r>
              <a:rPr lang="it-IT" dirty="0"/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INSTALLARLA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/>
              <a:t>MINI SERVER (PSEUDO SERVER) 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it-IT" dirty="0"/>
              <a:t>NODE.JS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C.L.I. </a:t>
            </a:r>
            <a:r>
              <a:rPr lang="it-IT" dirty="0" err="1"/>
              <a:t>Command</a:t>
            </a:r>
            <a:r>
              <a:rPr lang="it-IT" dirty="0"/>
              <a:t> Line Interface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Javascript</a:t>
            </a:r>
            <a:endParaRPr lang="it-IT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TypeScript</a:t>
            </a:r>
            <a:endParaRPr lang="it-IT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it-IT" dirty="0" err="1"/>
              <a:t>Jsx</a:t>
            </a:r>
            <a:r>
              <a:rPr lang="it-IT" dirty="0"/>
              <a:t> (</a:t>
            </a:r>
            <a:r>
              <a:rPr lang="it-IT" dirty="0" err="1"/>
              <a:t>Javascript</a:t>
            </a:r>
            <a:r>
              <a:rPr lang="it-IT" dirty="0"/>
              <a:t> </a:t>
            </a:r>
            <a:r>
              <a:rPr lang="it-IT" dirty="0" err="1"/>
              <a:t>extend</a:t>
            </a:r>
            <a:r>
              <a:rPr lang="it-IT" dirty="0"/>
              <a:t>)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386387F4-2496-41BC-AD27-75FF9B83ED2B}"/>
              </a:ext>
            </a:extLst>
          </p:cNvPr>
          <p:cNvSpPr/>
          <p:nvPr/>
        </p:nvSpPr>
        <p:spPr>
          <a:xfrm>
            <a:off x="8032630" y="4015527"/>
            <a:ext cx="3511670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ANGULAR/REACT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C2EC306-F085-4C2E-BE22-8916A14EB9B7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9240329" y="5215856"/>
            <a:ext cx="548136" cy="1223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E330D9C-7B23-44A8-994C-5BB820908C1B}"/>
              </a:ext>
            </a:extLst>
          </p:cNvPr>
          <p:cNvSpPr txBox="1"/>
          <p:nvPr/>
        </p:nvSpPr>
        <p:spPr>
          <a:xfrm>
            <a:off x="8705488" y="6434783"/>
            <a:ext cx="1535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NODE.JS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E4DB3E85-4E97-4604-84D6-6F60965DFBA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5736379" y="4775200"/>
            <a:ext cx="2283310" cy="71465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EE9FEDD8-7C6B-4C72-B99A-8425D0194B25}"/>
              </a:ext>
            </a:extLst>
          </p:cNvPr>
          <p:cNvCxnSpPr>
            <a:cxnSpLocks/>
          </p:cNvCxnSpPr>
          <p:nvPr/>
        </p:nvCxnSpPr>
        <p:spPr>
          <a:xfrm>
            <a:off x="9240328" y="6896751"/>
            <a:ext cx="0" cy="767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9B4542E8-8AFA-4027-A7C4-8B6558E9928D}"/>
              </a:ext>
            </a:extLst>
          </p:cNvPr>
          <p:cNvSpPr txBox="1"/>
          <p:nvPr/>
        </p:nvSpPr>
        <p:spPr>
          <a:xfrm>
            <a:off x="8797503" y="7705380"/>
            <a:ext cx="15355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SERVER</a:t>
            </a:r>
          </a:p>
        </p:txBody>
      </p:sp>
      <p:cxnSp>
        <p:nvCxnSpPr>
          <p:cNvPr id="42" name="Connettore 2 41">
            <a:extLst>
              <a:ext uri="{FF2B5EF4-FFF2-40B4-BE49-F238E27FC236}">
                <a16:creationId xmlns:a16="http://schemas.microsoft.com/office/drawing/2014/main" id="{E883A2BF-64F6-41A7-A9ED-031E612525A3}"/>
              </a:ext>
            </a:extLst>
          </p:cNvPr>
          <p:cNvCxnSpPr>
            <a:cxnSpLocks/>
          </p:cNvCxnSpPr>
          <p:nvPr/>
        </p:nvCxnSpPr>
        <p:spPr>
          <a:xfrm flipV="1">
            <a:off x="9565254" y="6896752"/>
            <a:ext cx="0" cy="698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F0BCC336-2EED-437E-9C8E-D274275B7497}"/>
              </a:ext>
            </a:extLst>
          </p:cNvPr>
          <p:cNvCxnSpPr>
            <a:stCxn id="38" idx="0"/>
          </p:cNvCxnSpPr>
          <p:nvPr/>
        </p:nvCxnSpPr>
        <p:spPr>
          <a:xfrm flipH="1" flipV="1">
            <a:off x="9473239" y="5215857"/>
            <a:ext cx="319896" cy="1218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29038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1052604-8ABF-2308-EC2D-B10FC17F6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764" y="3323387"/>
            <a:ext cx="7750229" cy="14226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130048" tIns="65024" rIns="130048" bIns="325018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564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Installare create-</a:t>
            </a:r>
            <a:r>
              <a:rPr lang="it-IT" altLang="it-IT" sz="1564" b="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it-IT" altLang="it-IT" sz="1564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-app : </a:t>
            </a:r>
            <a:r>
              <a:rPr lang="it-IT" altLang="it-IT" sz="1564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npm</a:t>
            </a:r>
            <a:r>
              <a:rPr lang="it-IT" altLang="it-IT" sz="1564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altLang="it-IT" sz="1564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install</a:t>
            </a:r>
            <a:r>
              <a:rPr lang="it-IT" altLang="it-IT" sz="1564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-g create-</a:t>
            </a:r>
            <a:r>
              <a:rPr lang="it-IT" altLang="it-IT" sz="1564" dirty="0" err="1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it-IT" altLang="it-IT" sz="1564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-app</a:t>
            </a:r>
            <a:endParaRPr lang="it-IT" altLang="it-IT" sz="1422" b="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422" b="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Nuovo progetto </a:t>
            </a:r>
            <a:r>
              <a:rPr lang="it-IT" altLang="it-IT" sz="1422" b="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typescript</a:t>
            </a:r>
            <a:r>
              <a:rPr lang="it-IT" altLang="it-IT" sz="1422" b="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create-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react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-app 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my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-app --template 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typescript</a:t>
            </a:r>
            <a:endParaRPr lang="it-IT" altLang="it-IT" sz="1707" dirty="0">
              <a:solidFill>
                <a:srgbClr val="FF0000"/>
              </a:solidFill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cd  </a:t>
            </a: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my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-app</a:t>
            </a:r>
          </a:p>
          <a:p>
            <a:pPr algn="l" defTabSz="1300460" eaLnBrk="0" fontAlgn="base">
              <a:spcBef>
                <a:spcPct val="0"/>
              </a:spcBef>
              <a:spcAft>
                <a:spcPct val="0"/>
              </a:spcAft>
            </a:pPr>
            <a:r>
              <a:rPr lang="it-IT" altLang="it-IT" sz="1707" dirty="0" err="1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npm</a:t>
            </a:r>
            <a:r>
              <a:rPr lang="it-IT" altLang="it-IT" sz="1707" dirty="0">
                <a:solidFill>
                  <a:srgbClr val="FF0000"/>
                </a:solidFill>
                <a:latin typeface="Arial Unicode MS" panose="020B0604020202020204" pitchFamily="34" charset="-128"/>
                <a:cs typeface="Courier New" panose="02070309020205020404" pitchFamily="49" charset="0"/>
              </a:rPr>
              <a:t> start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4FA6C8A-6697-EA15-3AFD-E0F79F3C265D}"/>
              </a:ext>
            </a:extLst>
          </p:cNvPr>
          <p:cNvSpPr txBox="1"/>
          <p:nvPr/>
        </p:nvSpPr>
        <p:spPr>
          <a:xfrm>
            <a:off x="689729" y="1624614"/>
            <a:ext cx="7534360" cy="617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413" dirty="0"/>
              <a:t>Installazione del CLI di </a:t>
            </a:r>
            <a:r>
              <a:rPr lang="it-IT" sz="3413" dirty="0" err="1"/>
              <a:t>React</a:t>
            </a:r>
            <a:endParaRPr lang="it-IT" sz="3413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2AD83F-AEA8-681A-E4C4-0797138AC01F}"/>
              </a:ext>
            </a:extLst>
          </p:cNvPr>
          <p:cNvSpPr txBox="1"/>
          <p:nvPr/>
        </p:nvSpPr>
        <p:spPr>
          <a:xfrm>
            <a:off x="906904" y="5551517"/>
            <a:ext cx="10118361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it-IT" sz="18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Modalità vite:</a:t>
            </a:r>
          </a:p>
          <a:p>
            <a:pPr algn="l"/>
            <a:r>
              <a:rPr lang="en-US" sz="1800" dirty="0" err="1"/>
              <a:t>npm</a:t>
            </a:r>
            <a:r>
              <a:rPr lang="en-US" sz="1800" dirty="0"/>
              <a:t> create </a:t>
            </a:r>
            <a:r>
              <a:rPr lang="en-US" sz="1800" dirty="0" err="1"/>
              <a:t>vite@latest</a:t>
            </a:r>
            <a:r>
              <a:rPr lang="en-US" sz="1800" dirty="0"/>
              <a:t> </a:t>
            </a:r>
            <a:r>
              <a:rPr lang="en-US" sz="1800" dirty="0" err="1"/>
              <a:t>nomeprogetto</a:t>
            </a:r>
            <a:r>
              <a:rPr lang="en-US" sz="1800"/>
              <a:t> --</a:t>
            </a:r>
            <a:r>
              <a:rPr lang="en-US" sz="1800" dirty="0"/>
              <a:t>template react-</a:t>
            </a:r>
            <a:r>
              <a:rPr lang="en-US" sz="1800" dirty="0" err="1"/>
              <a:t>ts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cd </a:t>
            </a:r>
            <a:r>
              <a:rPr lang="en-US" sz="1800" dirty="0" err="1"/>
              <a:t>nomeprogetto</a:t>
            </a:r>
            <a:endParaRPr lang="en-US" sz="1800" dirty="0"/>
          </a:p>
          <a:p>
            <a:pPr algn="l"/>
            <a:endParaRPr lang="en-US" sz="1800" dirty="0"/>
          </a:p>
          <a:p>
            <a:pPr algn="l"/>
            <a:r>
              <a:rPr lang="en-US" sz="1800" dirty="0" err="1"/>
              <a:t>npm</a:t>
            </a:r>
            <a:r>
              <a:rPr lang="en-US" sz="1800" dirty="0"/>
              <a:t> install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 err="1"/>
              <a:t>npm</a:t>
            </a:r>
            <a:r>
              <a:rPr lang="en-US" sz="1800" dirty="0"/>
              <a:t> run dev</a:t>
            </a:r>
            <a:endParaRPr kumimoji="0" lang="it-IT" sz="1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631426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7AE12D-02BA-9B63-E685-491B50502911}"/>
              </a:ext>
            </a:extLst>
          </p:cNvPr>
          <p:cNvSpPr txBox="1"/>
          <p:nvPr/>
        </p:nvSpPr>
        <p:spPr>
          <a:xfrm>
            <a:off x="4783241" y="1655087"/>
            <a:ext cx="2901082" cy="514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defTabSz="438107"/>
            <a:r>
              <a:rPr lang="it-IT" sz="2844" dirty="0"/>
              <a:t>Componenti</a:t>
            </a:r>
          </a:p>
        </p:txBody>
      </p:sp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447DC26F-60BA-BF39-F0D9-850E40343654}"/>
              </a:ext>
            </a:extLst>
          </p:cNvPr>
          <p:cNvCxnSpPr/>
          <p:nvPr/>
        </p:nvCxnSpPr>
        <p:spPr>
          <a:xfrm flipH="1">
            <a:off x="3501292" y="2219570"/>
            <a:ext cx="2585165" cy="1842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04E9FD45-7F94-FB55-C47E-8469093817D7}"/>
              </a:ext>
            </a:extLst>
          </p:cNvPr>
          <p:cNvCxnSpPr/>
          <p:nvPr/>
        </p:nvCxnSpPr>
        <p:spPr>
          <a:xfrm>
            <a:off x="6597171" y="2198510"/>
            <a:ext cx="2153426" cy="195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121102A-54D0-415F-43B2-E2B709F70994}"/>
              </a:ext>
            </a:extLst>
          </p:cNvPr>
          <p:cNvSpPr txBox="1"/>
          <p:nvPr/>
        </p:nvSpPr>
        <p:spPr>
          <a:xfrm>
            <a:off x="2237668" y="4062355"/>
            <a:ext cx="3780343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76" dirty="0" err="1"/>
              <a:t>Functional</a:t>
            </a:r>
            <a:r>
              <a:rPr lang="it-IT" sz="2276" dirty="0"/>
              <a:t> component</a:t>
            </a:r>
          </a:p>
          <a:p>
            <a:r>
              <a:rPr lang="it-IT" sz="2276" dirty="0"/>
              <a:t>(</a:t>
            </a:r>
            <a:r>
              <a:rPr lang="it-IT" sz="2276" dirty="0" err="1"/>
              <a:t>stateless</a:t>
            </a:r>
            <a:r>
              <a:rPr lang="it-IT" sz="2276" dirty="0"/>
              <a:t>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9A620B0-D3DB-1B22-68F7-A98DF08D4F3D}"/>
              </a:ext>
            </a:extLst>
          </p:cNvPr>
          <p:cNvSpPr txBox="1"/>
          <p:nvPr/>
        </p:nvSpPr>
        <p:spPr>
          <a:xfrm>
            <a:off x="6898161" y="4034741"/>
            <a:ext cx="3780343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76" dirty="0"/>
              <a:t>Class component</a:t>
            </a:r>
          </a:p>
          <a:p>
            <a:r>
              <a:rPr lang="it-IT" sz="2276" dirty="0"/>
              <a:t>(</a:t>
            </a:r>
            <a:r>
              <a:rPr lang="it-IT" sz="2276" dirty="0" err="1"/>
              <a:t>statefull</a:t>
            </a:r>
            <a:r>
              <a:rPr lang="it-IT" sz="2276" dirty="0"/>
              <a:t>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E668500-2204-976C-F25B-AF8DC9ADD108}"/>
              </a:ext>
            </a:extLst>
          </p:cNvPr>
          <p:cNvSpPr txBox="1"/>
          <p:nvPr/>
        </p:nvSpPr>
        <p:spPr>
          <a:xfrm>
            <a:off x="2195548" y="5831429"/>
            <a:ext cx="7534360" cy="792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76" dirty="0"/>
              <a:t>Tutti i componenti, hanno estensione: *.</a:t>
            </a:r>
            <a:r>
              <a:rPr lang="it-IT" sz="2276" dirty="0" err="1"/>
              <a:t>jsx</a:t>
            </a:r>
            <a:r>
              <a:rPr lang="it-IT" sz="2276" dirty="0"/>
              <a:t>/</a:t>
            </a:r>
            <a:r>
              <a:rPr lang="it-IT" sz="2276" dirty="0" err="1"/>
              <a:t>tsx</a:t>
            </a:r>
            <a:r>
              <a:rPr lang="it-IT" sz="2276" dirty="0"/>
              <a:t> – Comprendono in un unico file, grafica e logica</a:t>
            </a:r>
          </a:p>
        </p:txBody>
      </p:sp>
    </p:spTree>
    <p:extLst>
      <p:ext uri="{BB962C8B-B14F-4D97-AF65-F5344CB8AC3E}">
        <p14:creationId xmlns:p14="http://schemas.microsoft.com/office/powerpoint/2010/main" val="390612861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379</Words>
  <Application>Microsoft Office PowerPoint</Application>
  <PresentationFormat>Personalizzato</PresentationFormat>
  <Paragraphs>99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6" baseType="lpstr">
      <vt:lpstr>Arial Unicode MS</vt:lpstr>
      <vt:lpstr>Arial</vt:lpstr>
      <vt:lpstr>Calibri</vt:lpstr>
      <vt:lpstr>Century Gothic</vt:lpstr>
      <vt:lpstr>Consolas</vt:lpstr>
      <vt:lpstr>Helvetica Light</vt:lpstr>
      <vt:lpstr>Helvetica Neue</vt:lpstr>
      <vt:lpstr>Helvetica Neue Light</vt:lpstr>
      <vt:lpstr>Helvetica Neue Medium</vt:lpstr>
      <vt:lpstr>Helvetica Neue Thin</vt:lpstr>
      <vt:lpstr>Intro </vt:lpstr>
      <vt:lpstr>White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domenico santorelli</dc:creator>
  <cp:lastModifiedBy>Marcello Valeri</cp:lastModifiedBy>
  <cp:revision>24</cp:revision>
  <dcterms:modified xsi:type="dcterms:W3CDTF">2025-10-01T12:02:39Z</dcterms:modified>
</cp:coreProperties>
</file>